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880e5840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880e5840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880e584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880e584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880e5840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880e5840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880e5840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e880e5840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880e58403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880e58403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880e58403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880e58403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880e58403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880e58403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2.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18786" r="14949" t="0"/>
          <a:stretch/>
        </p:blipFill>
        <p:spPr>
          <a:xfrm>
            <a:off x="0" y="372300"/>
            <a:ext cx="9144000" cy="4398926"/>
          </a:xfrm>
          <a:prstGeom prst="rect">
            <a:avLst/>
          </a:prstGeom>
          <a:noFill/>
          <a:ln>
            <a:noFill/>
          </a:ln>
        </p:spPr>
      </p:pic>
      <p:sp>
        <p:nvSpPr>
          <p:cNvPr id="55" name="Google Shape;55;p13"/>
          <p:cNvSpPr txBox="1"/>
          <p:nvPr/>
        </p:nvSpPr>
        <p:spPr>
          <a:xfrm>
            <a:off x="4094350" y="152525"/>
            <a:ext cx="57150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5200">
                <a:solidFill>
                  <a:srgbClr val="FF0000"/>
                </a:solidFill>
              </a:rPr>
              <a:t>The Miners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182475" y="169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Gravity</a:t>
            </a:r>
            <a:endParaRPr/>
          </a:p>
        </p:txBody>
      </p:sp>
      <p:sp>
        <p:nvSpPr>
          <p:cNvPr id="61" name="Google Shape;61;p14"/>
          <p:cNvSpPr txBox="1"/>
          <p:nvPr>
            <p:ph idx="1" type="body"/>
          </p:nvPr>
        </p:nvSpPr>
        <p:spPr>
          <a:xfrm>
            <a:off x="182475" y="742025"/>
            <a:ext cx="4282500" cy="420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There is a high amplitude negative residual gravity anomaly centered at 12.5 m along line</a:t>
            </a:r>
            <a:endParaRPr/>
          </a:p>
          <a:p>
            <a:pPr indent="-342900" lvl="0" marL="457200" rtl="0" algn="l">
              <a:spcBef>
                <a:spcPts val="0"/>
              </a:spcBef>
              <a:spcAft>
                <a:spcPts val="0"/>
              </a:spcAft>
              <a:buSzPts val="1800"/>
              <a:buChar char="-"/>
            </a:pPr>
            <a:r>
              <a:rPr lang="en"/>
              <a:t>We know the mine shafts extends 200 ft at 2 m by 2 m, around the center of our line</a:t>
            </a:r>
            <a:endParaRPr/>
          </a:p>
          <a:p>
            <a:pPr indent="-342900" lvl="0" marL="457200" rtl="0" algn="l">
              <a:spcBef>
                <a:spcPts val="0"/>
              </a:spcBef>
              <a:spcAft>
                <a:spcPts val="0"/>
              </a:spcAft>
              <a:buSzPts val="1800"/>
              <a:buChar char="-"/>
            </a:pPr>
            <a:r>
              <a:rPr lang="en"/>
              <a:t>Model assumes a clean tunnel, but it was built a while ago- its likely collapsed</a:t>
            </a:r>
            <a:endParaRPr/>
          </a:p>
          <a:p>
            <a:pPr indent="-342900" lvl="0" marL="457200" rtl="0" algn="l">
              <a:spcBef>
                <a:spcPts val="0"/>
              </a:spcBef>
              <a:spcAft>
                <a:spcPts val="0"/>
              </a:spcAft>
              <a:buSzPts val="1800"/>
              <a:buChar char="-"/>
            </a:pPr>
            <a:r>
              <a:rPr lang="en"/>
              <a:t>Collapsed shafts and fractured sandstones create more irregular negative anomalies </a:t>
            </a:r>
            <a:endParaRPr/>
          </a:p>
        </p:txBody>
      </p:sp>
      <p:pic>
        <p:nvPicPr>
          <p:cNvPr id="62" name="Google Shape;62;p14" title="Screenshot 2026-06-04 at 2.31.51 PM.png"/>
          <p:cNvPicPr preferRelativeResize="0"/>
          <p:nvPr/>
        </p:nvPicPr>
        <p:blipFill>
          <a:blip r:embed="rId3">
            <a:alphaModFix/>
          </a:blip>
          <a:stretch>
            <a:fillRect/>
          </a:stretch>
        </p:blipFill>
        <p:spPr>
          <a:xfrm>
            <a:off x="4637500" y="2478400"/>
            <a:ext cx="4506501" cy="2424775"/>
          </a:xfrm>
          <a:prstGeom prst="rect">
            <a:avLst/>
          </a:prstGeom>
          <a:noFill/>
          <a:ln>
            <a:noFill/>
          </a:ln>
        </p:spPr>
      </p:pic>
      <p:pic>
        <p:nvPicPr>
          <p:cNvPr id="63" name="Google Shape;63;p14" title="Screenshot 2026-06-04 at 2.43.23 PM.png"/>
          <p:cNvPicPr preferRelativeResize="0"/>
          <p:nvPr/>
        </p:nvPicPr>
        <p:blipFill rotWithShape="1">
          <a:blip r:embed="rId4">
            <a:alphaModFix/>
          </a:blip>
          <a:srcRect b="2211" l="0" r="0" t="1236"/>
          <a:stretch/>
        </p:blipFill>
        <p:spPr>
          <a:xfrm>
            <a:off x="4637500" y="336000"/>
            <a:ext cx="4282500" cy="1877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idx="1" type="body"/>
          </p:nvPr>
        </p:nvSpPr>
        <p:spPr>
          <a:xfrm>
            <a:off x="6561075" y="190125"/>
            <a:ext cx="2583000" cy="43788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Tested adding topo layers to the zoomed survey map, but the elevation change is only 9m so topo lines were cluttering the survey map and taking away from the message of the figure.</a:t>
            </a:r>
            <a:endParaRPr sz="1500"/>
          </a:p>
        </p:txBody>
      </p:sp>
      <p:pic>
        <p:nvPicPr>
          <p:cNvPr id="69" name="Google Shape;69;p15"/>
          <p:cNvPicPr preferRelativeResize="0"/>
          <p:nvPr/>
        </p:nvPicPr>
        <p:blipFill>
          <a:blip r:embed="rId3">
            <a:alphaModFix/>
          </a:blip>
          <a:stretch>
            <a:fillRect/>
          </a:stretch>
        </p:blipFill>
        <p:spPr>
          <a:xfrm>
            <a:off x="2" y="0"/>
            <a:ext cx="6497652" cy="5143500"/>
          </a:xfrm>
          <a:prstGeom prst="rect">
            <a:avLst/>
          </a:prstGeom>
          <a:noFill/>
          <a:ln>
            <a:noFill/>
          </a:ln>
        </p:spPr>
      </p:pic>
      <p:pic>
        <p:nvPicPr>
          <p:cNvPr id="70" name="Google Shape;70;p15"/>
          <p:cNvPicPr preferRelativeResize="0"/>
          <p:nvPr/>
        </p:nvPicPr>
        <p:blipFill rotWithShape="1">
          <a:blip r:embed="rId4">
            <a:alphaModFix/>
          </a:blip>
          <a:srcRect b="0" l="4187" r="0" t="0"/>
          <a:stretch/>
        </p:blipFill>
        <p:spPr>
          <a:xfrm>
            <a:off x="4179825" y="1472350"/>
            <a:ext cx="3154749" cy="36711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GPR Anomalies</a:t>
            </a:r>
            <a:endParaRPr/>
          </a:p>
        </p:txBody>
      </p:sp>
      <p:sp>
        <p:nvSpPr>
          <p:cNvPr id="76" name="Google Shape;76;p16"/>
          <p:cNvSpPr txBox="1"/>
          <p:nvPr>
            <p:ph idx="1" type="body"/>
          </p:nvPr>
        </p:nvSpPr>
        <p:spPr>
          <a:xfrm>
            <a:off x="311700" y="1152475"/>
            <a:ext cx="4558800" cy="3607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Added GPR anomalies on top of our survey lines</a:t>
            </a:r>
            <a:endParaRPr/>
          </a:p>
          <a:p>
            <a:pPr indent="-342900" lvl="0" marL="457200" rtl="0" algn="l">
              <a:spcBef>
                <a:spcPts val="0"/>
              </a:spcBef>
              <a:spcAft>
                <a:spcPts val="0"/>
              </a:spcAft>
              <a:buSzPts val="1800"/>
              <a:buChar char="-"/>
            </a:pPr>
            <a:r>
              <a:rPr lang="en"/>
              <a:t>Several</a:t>
            </a:r>
            <a:r>
              <a:rPr lang="en"/>
              <a:t> points lined up </a:t>
            </a:r>
            <a:r>
              <a:rPr lang="en"/>
              <a:t>with</a:t>
            </a:r>
            <a:r>
              <a:rPr lang="en"/>
              <a:t> anomalies on gravity line</a:t>
            </a:r>
            <a:endParaRPr/>
          </a:p>
          <a:p>
            <a:pPr indent="-342900" lvl="0" marL="457200" rtl="0" algn="l">
              <a:spcBef>
                <a:spcPts val="0"/>
              </a:spcBef>
              <a:spcAft>
                <a:spcPts val="0"/>
              </a:spcAft>
              <a:buSzPts val="1800"/>
              <a:buChar char="-"/>
            </a:pPr>
            <a:r>
              <a:rPr lang="en"/>
              <a:t>Similar anomalies between different </a:t>
            </a:r>
            <a:r>
              <a:rPr lang="en"/>
              <a:t>frequencies</a:t>
            </a:r>
            <a:r>
              <a:rPr lang="en"/>
              <a:t> and survey lines</a:t>
            </a:r>
            <a:endParaRPr/>
          </a:p>
          <a:p>
            <a:pPr indent="-342900" lvl="0" marL="457200" rtl="0" algn="l">
              <a:spcBef>
                <a:spcPts val="0"/>
              </a:spcBef>
              <a:spcAft>
                <a:spcPts val="0"/>
              </a:spcAft>
              <a:buSzPts val="1800"/>
              <a:buChar char="-"/>
            </a:pPr>
            <a:r>
              <a:rPr lang="en"/>
              <a:t>Weird anomalies towards the south end of our line that could indicate collapsed portion of the mine shaft, or continued portion of it</a:t>
            </a:r>
            <a:endParaRPr/>
          </a:p>
          <a:p>
            <a:pPr indent="-342900" lvl="0" marL="457200" rtl="0" algn="l">
              <a:spcBef>
                <a:spcPts val="0"/>
              </a:spcBef>
              <a:spcAft>
                <a:spcPts val="0"/>
              </a:spcAft>
              <a:buSzPts val="1800"/>
              <a:buChar char="-"/>
            </a:pPr>
            <a:r>
              <a:rPr lang="en"/>
              <a:t>ex: G03, M for moose, G for gopher</a:t>
            </a:r>
            <a:endParaRPr/>
          </a:p>
        </p:txBody>
      </p:sp>
      <p:pic>
        <p:nvPicPr>
          <p:cNvPr id="77" name="Google Shape;77;p16" title="Screenshot 2026-06-04 at 3.30.38 PM.png"/>
          <p:cNvPicPr preferRelativeResize="0"/>
          <p:nvPr/>
        </p:nvPicPr>
        <p:blipFill>
          <a:blip r:embed="rId3">
            <a:alphaModFix/>
          </a:blip>
          <a:stretch>
            <a:fillRect/>
          </a:stretch>
        </p:blipFill>
        <p:spPr>
          <a:xfrm>
            <a:off x="4870550" y="155263"/>
            <a:ext cx="3852276" cy="48329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7"/>
          <p:cNvPicPr preferRelativeResize="0"/>
          <p:nvPr/>
        </p:nvPicPr>
        <p:blipFill>
          <a:blip r:embed="rId3">
            <a:alphaModFix/>
          </a:blip>
          <a:stretch>
            <a:fillRect/>
          </a:stretch>
        </p:blipFill>
        <p:spPr>
          <a:xfrm>
            <a:off x="0" y="0"/>
            <a:ext cx="4911876" cy="5068350"/>
          </a:xfrm>
          <a:prstGeom prst="rect">
            <a:avLst/>
          </a:prstGeom>
          <a:noFill/>
          <a:ln>
            <a:noFill/>
          </a:ln>
        </p:spPr>
      </p:pic>
      <p:pic>
        <p:nvPicPr>
          <p:cNvPr id="83" name="Google Shape;83;p17" title="Screenshot 2026-06-04 at 2.43.23 PM.png"/>
          <p:cNvPicPr preferRelativeResize="0"/>
          <p:nvPr/>
        </p:nvPicPr>
        <p:blipFill rotWithShape="1">
          <a:blip r:embed="rId4">
            <a:alphaModFix/>
          </a:blip>
          <a:srcRect b="2211" l="0" r="0" t="1236"/>
          <a:stretch/>
        </p:blipFill>
        <p:spPr>
          <a:xfrm>
            <a:off x="3771050" y="1394000"/>
            <a:ext cx="5372949" cy="235550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Abstract is in the works!!</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Used the Nature Abstract guidelines.</a:t>
            </a:r>
            <a:endParaRPr/>
          </a:p>
        </p:txBody>
      </p:sp>
      <p:pic>
        <p:nvPicPr>
          <p:cNvPr id="90" name="Google Shape;90;p18"/>
          <p:cNvPicPr preferRelativeResize="0"/>
          <p:nvPr/>
        </p:nvPicPr>
        <p:blipFill>
          <a:blip r:embed="rId3">
            <a:alphaModFix/>
          </a:blip>
          <a:stretch>
            <a:fillRect/>
          </a:stretch>
        </p:blipFill>
        <p:spPr>
          <a:xfrm>
            <a:off x="1479726" y="1665201"/>
            <a:ext cx="6184550" cy="3128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 do:</a:t>
            </a:r>
            <a:endParaRPr/>
          </a:p>
        </p:txBody>
      </p:sp>
      <p:sp>
        <p:nvSpPr>
          <p:cNvPr id="96" name="Google Shape;96;p19"/>
          <p:cNvSpPr txBox="1"/>
          <p:nvPr>
            <p:ph idx="1" type="body"/>
          </p:nvPr>
        </p:nvSpPr>
        <p:spPr>
          <a:xfrm>
            <a:off x="170600" y="1317100"/>
            <a:ext cx="4563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Overlay GPR with Gravity and see if they </a:t>
            </a:r>
            <a:r>
              <a:rPr lang="en"/>
              <a:t>have</a:t>
            </a:r>
            <a:r>
              <a:rPr lang="en"/>
              <a:t> coinciding anomalies</a:t>
            </a:r>
            <a:endParaRPr/>
          </a:p>
          <a:p>
            <a:pPr indent="-342900" lvl="0" marL="457200" rtl="0" algn="l">
              <a:spcBef>
                <a:spcPts val="0"/>
              </a:spcBef>
              <a:spcAft>
                <a:spcPts val="0"/>
              </a:spcAft>
              <a:buSzPts val="1800"/>
              <a:buChar char="-"/>
            </a:pPr>
            <a:r>
              <a:rPr lang="en"/>
              <a:t>Begin to characterize the mine shaft (stable or </a:t>
            </a:r>
            <a:r>
              <a:rPr lang="en"/>
              <a:t>collapsed)</a:t>
            </a:r>
            <a:endParaRPr/>
          </a:p>
          <a:p>
            <a:pPr indent="-342900" lvl="0" marL="457200" rtl="0" algn="l">
              <a:spcBef>
                <a:spcPts val="0"/>
              </a:spcBef>
              <a:spcAft>
                <a:spcPts val="0"/>
              </a:spcAft>
              <a:buSzPts val="1800"/>
              <a:buChar char="-"/>
            </a:pPr>
            <a:r>
              <a:rPr lang="en"/>
              <a:t>Look more into refraction data and decide if not useful</a:t>
            </a:r>
            <a:endParaRPr/>
          </a:p>
          <a:p>
            <a:pPr indent="-342900" lvl="0" marL="457200" rtl="0" algn="l">
              <a:spcBef>
                <a:spcPts val="0"/>
              </a:spcBef>
              <a:spcAft>
                <a:spcPts val="0"/>
              </a:spcAft>
              <a:buSzPts val="1800"/>
              <a:buChar char="-"/>
            </a:pPr>
            <a:r>
              <a:rPr lang="en"/>
              <a:t>Finish abstract</a:t>
            </a:r>
            <a:endParaRPr/>
          </a:p>
          <a:p>
            <a:pPr indent="-342900" lvl="0" marL="457200" rtl="0" algn="l">
              <a:spcBef>
                <a:spcPts val="0"/>
              </a:spcBef>
              <a:spcAft>
                <a:spcPts val="0"/>
              </a:spcAft>
              <a:buSzPts val="1800"/>
              <a:buChar char="-"/>
            </a:pPr>
            <a:r>
              <a:rPr lang="en"/>
              <a:t>GET PROFESSIONAL HELP</a:t>
            </a:r>
            <a:endParaRPr/>
          </a:p>
          <a:p>
            <a:pPr indent="-342900" lvl="0" marL="457200" rtl="0" algn="l">
              <a:spcBef>
                <a:spcPts val="0"/>
              </a:spcBef>
              <a:spcAft>
                <a:spcPts val="0"/>
              </a:spcAft>
              <a:buClr>
                <a:schemeClr val="lt1"/>
              </a:buClr>
              <a:buSzPts val="1800"/>
              <a:buChar char="-"/>
            </a:pPr>
            <a:r>
              <a:rPr lang="en">
                <a:solidFill>
                  <a:schemeClr val="lt1"/>
                </a:solidFill>
              </a:rPr>
              <a:t>E</a:t>
            </a:r>
            <a:r>
              <a:rPr lang="en">
                <a:solidFill>
                  <a:schemeClr val="lt1"/>
                </a:solidFill>
              </a:rPr>
              <a:t>at ASSSSSSSSSSSSSSSSSSSSSSSSSSSS (looking for volunteers)</a:t>
            </a:r>
            <a:endParaRPr>
              <a:solidFill>
                <a:schemeClr val="lt1"/>
              </a:solidFill>
            </a:endParaRPr>
          </a:p>
        </p:txBody>
      </p:sp>
      <p:pic>
        <p:nvPicPr>
          <p:cNvPr descr="I love miners groovy font - Miners - T ..." id="97" name="Google Shape;97;p19"/>
          <p:cNvPicPr preferRelativeResize="0"/>
          <p:nvPr/>
        </p:nvPicPr>
        <p:blipFill>
          <a:blip r:embed="rId3">
            <a:alphaModFix/>
          </a:blip>
          <a:stretch>
            <a:fillRect/>
          </a:stretch>
        </p:blipFill>
        <p:spPr>
          <a:xfrm>
            <a:off x="5833500" y="499200"/>
            <a:ext cx="2948850" cy="2948850"/>
          </a:xfrm>
          <a:prstGeom prst="rect">
            <a:avLst/>
          </a:prstGeom>
          <a:noFill/>
          <a:ln>
            <a:noFill/>
          </a:ln>
        </p:spPr>
      </p:pic>
      <p:pic>
        <p:nvPicPr>
          <p:cNvPr id="98" name="Google Shape;98;p19"/>
          <p:cNvPicPr preferRelativeResize="0"/>
          <p:nvPr/>
        </p:nvPicPr>
        <p:blipFill>
          <a:blip r:embed="rId4">
            <a:alphaModFix amt="85000"/>
          </a:blip>
          <a:stretch>
            <a:fillRect/>
          </a:stretch>
        </p:blipFill>
        <p:spPr>
          <a:xfrm>
            <a:off x="4016625" y="3222350"/>
            <a:ext cx="1707950" cy="1476450"/>
          </a:xfrm>
          <a:prstGeom prst="rect">
            <a:avLst/>
          </a:prstGeom>
          <a:noFill/>
          <a:ln>
            <a:noFill/>
          </a:ln>
        </p:spPr>
      </p:pic>
      <p:pic>
        <p:nvPicPr>
          <p:cNvPr id="99" name="Google Shape;99;p19"/>
          <p:cNvPicPr preferRelativeResize="0"/>
          <p:nvPr/>
        </p:nvPicPr>
        <p:blipFill>
          <a:blip r:embed="rId5">
            <a:alphaModFix/>
          </a:blip>
          <a:stretch>
            <a:fillRect/>
          </a:stretch>
        </p:blipFill>
        <p:spPr>
          <a:xfrm>
            <a:off x="5483776" y="3767749"/>
            <a:ext cx="571235" cy="598401"/>
          </a:xfrm>
          <a:prstGeom prst="rect">
            <a:avLst/>
          </a:prstGeom>
          <a:noFill/>
          <a:ln>
            <a:noFill/>
          </a:ln>
        </p:spPr>
      </p:pic>
      <p:sp>
        <p:nvSpPr>
          <p:cNvPr id="100" name="Google Shape;100;p19"/>
          <p:cNvSpPr txBox="1"/>
          <p:nvPr/>
        </p:nvSpPr>
        <p:spPr>
          <a:xfrm>
            <a:off x="6461850" y="3607775"/>
            <a:ext cx="2496900" cy="7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WITH AN EEEEEEEE NO O!!</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